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D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12188952" cy="868680"/>
          </a:xfrm>
          <a:prstGeom prst="rect">
            <a:avLst/>
          </a:prstGeom>
          <a:solidFill>
            <a:srgbClr val="111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719072"/>
            <a:ext cx="12188952" cy="868680"/>
          </a:xfrm>
          <a:prstGeom prst="rect">
            <a:avLst/>
          </a:prstGeom>
          <a:solidFill>
            <a:srgbClr val="151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78608"/>
            <a:ext cx="12188952" cy="868680"/>
          </a:xfrm>
          <a:prstGeom prst="rect">
            <a:avLst/>
          </a:prstGeom>
          <a:solidFill>
            <a:srgbClr val="191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438144"/>
            <a:ext cx="12188952" cy="868680"/>
          </a:xfrm>
          <a:prstGeom prst="rect">
            <a:avLst/>
          </a:prstGeom>
          <a:solidFill>
            <a:srgbClr val="1D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297679"/>
            <a:ext cx="12188952" cy="868680"/>
          </a:xfrm>
          <a:prstGeom prst="rect">
            <a:avLst/>
          </a:prstGeom>
          <a:solidFill>
            <a:srgbClr val="212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157216"/>
            <a:ext cx="12188952" cy="868680"/>
          </a:xfrm>
          <a:prstGeom prst="rect">
            <a:avLst/>
          </a:prstGeom>
          <a:solidFill>
            <a:srgbClr val="25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016752"/>
            <a:ext cx="12188952" cy="868680"/>
          </a:xfrm>
          <a:prstGeom prst="rect">
            <a:avLst/>
          </a:prstGeom>
          <a:solidFill>
            <a:srgbClr val="29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0"/>
            <a:ext cx="50800" cy="68580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3716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303860"/>
                </a:solidFill>
                <a:latin typeface="Calibri"/>
              </a:rPr>
              <a:t>📱
🌐
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188720"/>
            <a:ext cx="914400" cy="6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TRABALHO DE SOCIOLOGIA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280160"/>
            <a:ext cx="6949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Influenciadores Digitais
e Dominação Carismática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  <a:latin typeface="Calibri"/>
              </a:rPr>
              <a:t>Como criadores de conteúdo exercem influência semelhante
ao conceito de liderança carismática de Max Weber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86400"/>
            <a:ext cx="6858000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  <a:latin typeface="Calibri"/>
              </a:rPr>
              <a:t>Grupo: Ana Clara · Manuela · Maria Eduarda     |     Sociologia     |     10/06/2026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CONTEXTO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Quem foi Max Weber?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64208"/>
            <a:ext cx="822960" cy="6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2103120" cy="3840480"/>
          </a:xfrm>
          <a:prstGeom prst="rect">
            <a:avLst/>
          </a:prstGeom>
          <a:solidFill>
            <a:srgbClr val="202640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8A020"/>
                </a:solidFill>
                <a:latin typeface="Calibri"/>
              </a:rPr>
              <a:t>Max Weber (1864–1920)
Fonte: Wikimedia Commons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A020"/>
                </a:solidFill>
                <a:latin typeface="Calibri"/>
              </a:rPr>
              <a:t>Max Weber
(1864–1920)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057400"/>
            <a:ext cx="64008" cy="4572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92024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Sociólogo e economista alemão (1864–1920)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898648"/>
            <a:ext cx="64008" cy="4572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2761488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Desenvolveu conceitos fundamentais: ação social,
tipos ideais e racionalização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3739896"/>
            <a:ext cx="64008" cy="4572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3602736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Identificou 3 formas de dominação legítima:
Tradicional · Racional-Legal · Carismática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4581144"/>
            <a:ext cx="64008" cy="4572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4443984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Obras-chave: Economia e Sociedade (1922) e
A Ética Protestante e o Espírito do Capitalismo (1905)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5422392"/>
            <a:ext cx="64008" cy="4572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5285232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 carisma, para Weber, é a crença dos seguidores
nas qualidades extraordinárias do líder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MAX WEBER · TEORIA DA DOMINAÇÃO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Os 3 Tipos de Dominação Legítima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64208"/>
            <a:ext cx="822960" cy="6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657600" cy="43891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657600" cy="76200"/>
          </a:xfrm>
          <a:prstGeom prst="rect">
            <a:avLst/>
          </a:prstGeom>
          <a:solidFill>
            <a:srgbClr val="6B8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8CCE"/>
                </a:solidFill>
                <a:latin typeface="Calibri"/>
              </a:rPr>
              <a:t>Dominação
Tradicional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16352"/>
            <a:ext cx="3291840" cy="25400"/>
          </a:xfrm>
          <a:prstGeom prst="rect">
            <a:avLst/>
          </a:prstGeom>
          <a:solidFill>
            <a:srgbClr val="6B8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Baseada nos costumes e hábitos históricos. A obediência se dá pela crença no caráter sagrado das tradições transmitidas de geração em geração.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8CCE"/>
                </a:solidFill>
                <a:latin typeface="Calibri"/>
              </a:rPr>
              <a:t>Ex.: monarquias, patriarcalismo, feudalismo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657600" cy="43891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3657600" cy="76200"/>
          </a:xfrm>
          <a:prstGeom prst="rect">
            <a:avLst/>
          </a:prstGeom>
          <a:solidFill>
            <a:srgbClr val="52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2996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2B07A"/>
                </a:solidFill>
                <a:latin typeface="Calibri"/>
              </a:rPr>
              <a:t>Dominação
Racional-Legal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816352"/>
            <a:ext cx="3291840" cy="25400"/>
          </a:xfrm>
          <a:prstGeom prst="rect">
            <a:avLst/>
          </a:prstGeom>
          <a:solidFill>
            <a:srgbClr val="52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8803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Baseada em leis, normas e regras formais. A obediência se dá ao cargo ou função, não à pessoa. Fundamento dos Estados modernos e burocracias.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120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2B07A"/>
                </a:solidFill>
                <a:latin typeface="Calibri"/>
              </a:rPr>
              <a:t>Ex.: governos democráticos, empresas, leis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657600" cy="43891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920240"/>
            <a:ext cx="3657600" cy="762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02996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A020"/>
                </a:solidFill>
                <a:latin typeface="Calibri"/>
              </a:rPr>
              <a:t>Dominação
Carismática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816352"/>
            <a:ext cx="3291840" cy="254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8803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Baseada nas qualidades excepcionais do líder. Os seguidores obedecem por admiração pessoal e crença nas capacidades extraordinárias do indivíduo.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120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Calibri"/>
              </a:rPr>
              <a:t>Ex.: líderes religiosos, políticos, influenciadores digitais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  <a:latin typeface="Calibri"/>
              </a:rPr>
              <a:t>Fonte: WEBER, Max. Economia e Sociedade. UnB, 2000 · Redalyc (10758900010) · Brasilescola.uol.com.br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CONCEITO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 que é a Dominação Carismática?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64208"/>
            <a:ext cx="822960" cy="6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577840" cy="1444752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76200" cy="144475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Qualidade Extraordinária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 carisma é uma crença dos seguidores de que o líder possui dons e poderes excepcionais que os demais não possuem.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577840" cy="1444752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76200" cy="144475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29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Devoção Pessoal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5059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 relação entre líder e seguidor é altamente emocional e pessoal — movida por admiração, entusiasmo e identificação.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5577840" cy="1444752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76200" cy="144475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30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Missão e Vocação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5079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 líder apresenta uma visão de mundo ou estilo de vida que seus seguidores abraçam como própria identidade.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20440"/>
            <a:ext cx="5577840" cy="1444752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520440"/>
            <a:ext cx="76200" cy="144475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30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Instabilidade Estrutural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5079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 carisma depende da manutenção contínua da crença — se o líder decepciona, a dominação se dissolve.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11247120" cy="1005840"/>
          </a:xfrm>
          <a:prstGeom prst="rect">
            <a:avLst/>
          </a:prstGeom>
          <a:solidFill>
            <a:srgbClr val="282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76200" cy="10058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2180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"O carisma é uma qualidade extraordinária (...) de uma personalidade, em virtude da qual é considerado alguém dotado de forças ou características sobrenaturais, sobre-humanas, ou pelo menos especificamente excepcionais."
— Max Weber, Economia e Sociedade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ERA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 que são Influenciadores Digitais?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64208"/>
            <a:ext cx="822960" cy="6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4114800" cy="4389120"/>
          </a:xfrm>
          <a:prstGeom prst="rect">
            <a:avLst/>
          </a:prstGeom>
          <a:solidFill>
            <a:srgbClr val="151D35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8A020"/>
                </a:solidFill>
                <a:latin typeface="Calibri"/>
              </a:rPr>
              <a:t>Criador de conteúdo
em plataformas digitais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A020"/>
                </a:solidFill>
                <a:latin typeface="Calibri"/>
              </a:rPr>
              <a:t>📸  YouTube  TikTok  Instagram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103120"/>
            <a:ext cx="164592" cy="1645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9202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Indivíduos que usam plataformas digitais (Instagram, YouTube, TikTok) para compartilhar opiniões, experiências e estilos de vida, construindo audiências leais.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3108960"/>
            <a:ext cx="164592" cy="1645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9260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Atuam como mediadores simbólicos: disseminam valores, comportamentos e ideologias para milhões de seguidores.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4114800"/>
            <a:ext cx="164592" cy="1645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9319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Seu poder não vem de posição formal de autoridade, mas da conexão emocional com a audiência — próximo da dominação carismática de Weber.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5120640"/>
            <a:ext cx="164592" cy="1645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49377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Constroem comunidades participativas em que os seguidores se identificam com o estilo de vida do criador de conteúdo.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CONTEXTO BRASILEIRO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Influenciadores Digitais no Brasil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64208"/>
            <a:ext cx="822960" cy="6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657600" cy="201168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8A020"/>
                </a:solidFill>
                <a:latin typeface="Calibri"/>
              </a:rPr>
              <a:t>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dos brasileiros já compraram um produto indicado por influenciadores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920240"/>
            <a:ext cx="3657600" cy="201168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96596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8A020"/>
                </a:solidFill>
                <a:latin typeface="Calibri"/>
              </a:rP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0175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dos influenciadores produzem conteúdo em mais de uma rede social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920240"/>
            <a:ext cx="3657600" cy="201168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6596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8A020"/>
                </a:solidFill>
                <a:latin typeface="Calibri"/>
              </a:rP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175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 Brasil é um dos maiores mercados de influência digital do mundo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  <a:latin typeface="Calibri"/>
              </a:rPr>
              <a:t>Maiores influenciadores brasileiros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2212848" cy="105156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535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  <a:latin typeface="Calibri"/>
              </a:rPr>
              <a:t>Virgínia Fonseca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956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52,8 mi · lifestyle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98064" y="4480560"/>
            <a:ext cx="2212848" cy="105156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2" y="4535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  <a:latin typeface="Calibri"/>
              </a:rPr>
              <a:t>Neymar Jr.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4956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44–200 mi · esporte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38928" y="4480560"/>
            <a:ext cx="2212848" cy="105156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8656" y="4535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  <a:latin typeface="Calibri"/>
              </a:rPr>
              <a:t>Bruna Marquezine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4956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44,7 mi · moda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79792" y="4480560"/>
            <a:ext cx="2212848" cy="105156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4535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  <a:latin typeface="Calibri"/>
              </a:rPr>
              <a:t>Nikolas Ferreira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956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+6,9 mi em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0656" y="4480560"/>
            <a:ext cx="2212848" cy="105156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0384" y="45354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  <a:latin typeface="Calibri"/>
              </a:rPr>
              <a:t>Felca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0384" y="4956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+12 mi em 2025 · humor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  <a:latin typeface="Calibri"/>
              </a:rPr>
              <a:t>Fonte: Hype Auditor (2025) · Favikon (2026) · Qualibest · Redalyc (4777/477774328005)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ANÁLISE SOCIOLÓGICA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Paralelo: Weber × Influenciadores Digitais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64208"/>
            <a:ext cx="822960" cy="6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2651760" cy="47548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93852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Conceito em Weber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920240"/>
            <a:ext cx="4206240" cy="47548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27248" y="193852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Dominação Carismática Clássica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920240"/>
            <a:ext cx="4206240" cy="47548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93852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Nos Influenciadores Digitais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265176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450592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  <a:latin typeface="Calibri"/>
              </a:rPr>
              <a:t>Qualidade extraordinária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395728"/>
            <a:ext cx="420624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2450592"/>
            <a:ext cx="4041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Dom divino, heroísmo, carisma inato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395728"/>
            <a:ext cx="420624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450592"/>
            <a:ext cx="4041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Autenticidade percebida, estética e estilo de vida aspiracional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45536"/>
            <a:ext cx="2651760" cy="731520"/>
          </a:xfrm>
          <a:prstGeom prst="rect">
            <a:avLst/>
          </a:prstGeom>
          <a:solidFill>
            <a:srgbClr val="22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200400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  <a:latin typeface="Calibri"/>
              </a:rPr>
              <a:t>Devoção dos seguidores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145536"/>
            <a:ext cx="4206240" cy="731520"/>
          </a:xfrm>
          <a:prstGeom prst="rect">
            <a:avLst/>
          </a:prstGeom>
          <a:solidFill>
            <a:srgbClr val="22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7248" y="3200400"/>
            <a:ext cx="4041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Fé irracional, entrega emocional ao líder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3145536"/>
            <a:ext cx="4206240" cy="731520"/>
          </a:xfrm>
          <a:prstGeom prst="rect">
            <a:avLst/>
          </a:prstGeom>
          <a:solidFill>
            <a:srgbClr val="22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200400"/>
            <a:ext cx="4041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Engajamento intenso, identificação, "fanbase" leal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95344"/>
            <a:ext cx="265176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950208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  <a:latin typeface="Calibri"/>
              </a:rPr>
              <a:t>Missão e visão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895344"/>
            <a:ext cx="420624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248" y="3950208"/>
            <a:ext cx="4041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Mensagem revolucionária ou religiosa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895344"/>
            <a:ext cx="420624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3950208"/>
            <a:ext cx="4041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Estilo de vida, causas, nicho (moda, fitness, política)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45152"/>
            <a:ext cx="2651760" cy="731520"/>
          </a:xfrm>
          <a:prstGeom prst="rect">
            <a:avLst/>
          </a:prstGeom>
          <a:solidFill>
            <a:srgbClr val="22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700016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  <a:latin typeface="Calibri"/>
              </a:rPr>
              <a:t>Dependência da crença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4645152"/>
            <a:ext cx="4206240" cy="731520"/>
          </a:xfrm>
          <a:prstGeom prst="rect">
            <a:avLst/>
          </a:prstGeom>
          <a:solidFill>
            <a:srgbClr val="22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27248" y="4700016"/>
            <a:ext cx="4041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Carisma some com falhas do líder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4645152"/>
            <a:ext cx="4206240" cy="731520"/>
          </a:xfrm>
          <a:prstGeom prst="rect">
            <a:avLst/>
          </a:prstGeom>
          <a:solidFill>
            <a:srgbClr val="22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4700016"/>
            <a:ext cx="4041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"Cancel culture": influenciador perde poder com polêmicas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394960"/>
            <a:ext cx="265176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449824"/>
            <a:ext cx="2487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  <a:latin typeface="Calibri"/>
              </a:rPr>
              <a:t>Apóstolos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5394960"/>
            <a:ext cx="420624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27248" y="5449824"/>
            <a:ext cx="4041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Discípulos que espalham a mensagem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5394960"/>
            <a:ext cx="420624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3488" y="5449824"/>
            <a:ext cx="40416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Seguidores que compartilham e defendem o influenciador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92240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  <a:latin typeface="Calibri"/>
              </a:rPr>
              <a:t>Fonte: Redalyc (10758900010) · Scielo · WEBER, Max. Economia e Sociedade.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MECANISMOS DE PODER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Como os Influenciadores Exercem Influência Carismática?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64208"/>
            <a:ext cx="822960" cy="6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577840" cy="201168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685800" cy="685800"/>
          </a:xfrm>
          <a:prstGeom prst="rect">
            <a:avLst/>
          </a:prstGeom>
          <a:solidFill>
            <a:srgbClr val="322405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2585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762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Autenticidade Performática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Transmitem imagem de intimidade e sinceridade, criando sensação de acesso à vida real — o que gera vínculos emocionais profundos com seguidores.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577840" cy="201168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2240280"/>
            <a:ext cx="685800" cy="685800"/>
          </a:xfrm>
          <a:prstGeom prst="rect">
            <a:avLst/>
          </a:prstGeom>
          <a:solidFill>
            <a:srgbClr val="322405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2585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1762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Constância e Presença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1635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 produção contínua de conteúdo mantém o carisma vivo. Weber alertava: o carisma precisa ser provado continuamente — influenciadores precisam de engajamento constante.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577840" cy="201168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34840"/>
            <a:ext cx="685800" cy="685800"/>
          </a:xfrm>
          <a:prstGeom prst="rect">
            <a:avLst/>
          </a:prstGeom>
          <a:solidFill>
            <a:srgbClr val="322405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4531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708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Identificação e Projeção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1091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Os seguidores projetam nos influenciadores seus sonhos e aspirações. Seguir o criador é, simbolicamente, aproximar-se do estilo de vida desejado.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114800"/>
            <a:ext cx="5577840" cy="201168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4434840"/>
            <a:ext cx="685800" cy="685800"/>
          </a:xfrm>
          <a:prstGeom prst="rect">
            <a:avLst/>
          </a:prstGeom>
          <a:solidFill>
            <a:srgbClr val="322405"/>
          </a:solidFill>
          <a:ln w="190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44531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3708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Algoritmo como Amplificador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1091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Plataformas amplificam o carisma: mais engajamento = mais visibilidade — um ciclo que reforça a dominação carismática no ambiente digital.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CASOS REAIS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Exemplos Concretos de Carisma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64208"/>
            <a:ext cx="822960" cy="6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657600" cy="448056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657600" cy="1828800"/>
          </a:xfrm>
          <a:prstGeom prst="rect">
            <a:avLst/>
          </a:prstGeom>
          <a:solidFill>
            <a:srgbClr val="15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58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Lifestyle &amp; Consumo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70832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Influenciadores como Virgínia Fonseca constroem uma narrativa de vida aspiracional. Seguidores consomem não apenas produtos, mas um estilo de vida — comportamento tipicamente carismático segundo Weber.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657600" cy="448056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657600" cy="1828800"/>
          </a:xfrm>
          <a:prstGeom prst="rect">
            <a:avLst/>
          </a:prstGeom>
          <a:solidFill>
            <a:srgbClr val="15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Calibri"/>
              </a:rPr>
              <a:t>🗳️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858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Política &amp; Mobilização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370832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Nikolas Ferreira usou o Instagram para construir uma base de seguidores devotos antes mesmo de ter poder institucional — dominação carismática pura, sem burocracia ou tradição.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920240"/>
            <a:ext cx="3657600" cy="448056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920240"/>
            <a:ext cx="3657600" cy="1828800"/>
          </a:xfrm>
          <a:prstGeom prst="rect">
            <a:avLst/>
          </a:prstGeom>
          <a:solidFill>
            <a:srgbClr val="15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Calibri"/>
              </a:rPr>
              <a:t>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58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20"/>
                </a:solidFill>
                <a:latin typeface="Calibri"/>
              </a:rPr>
              <a:t>Humor &amp; Cultura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370832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Youtubers como Felca crescem 12 mi de seguidores em um ano via conteúdo viral. O humor cria identidade de grupo: fãs compartilham valores e linguagem — comunidade típica da dominação carismática.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  <a:latin typeface="Calibri"/>
              </a:rPr>
              <a:t>Fonte: Hype Auditor (2025) · Favikon (2026) · Mundo do Marketing (2025)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CONSIDERAÇÕES FINAIS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64208"/>
            <a:ext cx="822960" cy="6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0789920" cy="987552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011680"/>
            <a:ext cx="548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039112"/>
            <a:ext cx="9738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teoria da dominação carismática de Weber, elaborada no século XX, se mostra surpreendentemente atual para analisar o fenômeno dos influenciadores digitais.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0789920" cy="987552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108960"/>
            <a:ext cx="548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136392"/>
            <a:ext cx="9738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Criadores de conteúdo exercem poder sem cargo ou tradição: seu único instrumento é a crença dos seguidores em suas qualidades excepcionais — o núcleo do conceito weberiano.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0789920" cy="987552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206240"/>
            <a:ext cx="548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233672"/>
            <a:ext cx="9738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 ambiente digital potencializa e acelera a dominação carismática: algoritmos amplificam o carisma, e a "cancel culture" ilustra a fragilidade estrutural que Weber já havia identificado.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10789920" cy="987552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303520"/>
            <a:ext cx="548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A020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5330952"/>
            <a:ext cx="9738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Compreender essa dinâmica é fundamental para uma leitura crítica da sociedade digital, revelando as estruturas de poder presentes nas redes sociais.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FONTES CONSULTADAS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Referências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64208"/>
            <a:ext cx="822960" cy="6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1124712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76200" cy="7315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65959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WEBER, Max. Economia e Sociedade: fundamentos da sociologia compreensiva. Brasília: Editora UnB, 2000. [Obra original: 1922]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70047"/>
            <a:ext cx="1124712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70047"/>
            <a:ext cx="76200" cy="7315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761487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BRASILESCOLA. Dominação Carismática. Disponível em: brasilescola.uol.com.br. Acesso em: junho de 2026.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65575"/>
            <a:ext cx="1124712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65575"/>
            <a:ext cx="76200" cy="7315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557015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UNIVERSIDADE ESTADUAL DO CENTRO-OESTE (UNICENTRO). Produção acadêmica em Ciências Sociais. Disponível em: www3.unicentro.br. Acesso em: junho de 2026.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61103"/>
            <a:ext cx="1124712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261103"/>
            <a:ext cx="76200" cy="7315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4352543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REDALYC. Poder Instituído e Potência Subversiva: Max Weber e a Dupla Face da Dominação Carismática. Revista de Ciências Sociais, v. 107, n. 10758900010.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56631"/>
            <a:ext cx="1124712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056631"/>
            <a:ext cx="76200" cy="7315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5148071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REDALYC. Influenciadores Digitais e Branding: Uma Revisão Bibliométrica. Revista de Gestão, v. 4777, n. 477774328005. Disponível em: redalyc.org.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52159"/>
            <a:ext cx="11247120" cy="731520"/>
          </a:xfrm>
          <a:prstGeom prst="rect">
            <a:avLst/>
          </a:prstGeom>
          <a:solidFill>
            <a:srgbClr val="28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52159"/>
            <a:ext cx="76200" cy="7315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943599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SCIELO PORTUGAL. Influenciadores digitais: os novos mediadores simbólico-ideológicos da era digital. Sociologia, Problemas e Práticas, n. 300,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